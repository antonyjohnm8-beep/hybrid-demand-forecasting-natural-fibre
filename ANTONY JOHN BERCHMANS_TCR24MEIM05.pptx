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4"/>
  </p:sldMasterIdLst>
  <p:sldIdLst>
    <p:sldId id="310" r:id="rId5"/>
    <p:sldId id="259" r:id="rId6"/>
    <p:sldId id="260" r:id="rId7"/>
    <p:sldId id="291" r:id="rId8"/>
    <p:sldId id="264" r:id="rId9"/>
    <p:sldId id="268" r:id="rId10"/>
    <p:sldId id="261" r:id="rId11"/>
    <p:sldId id="284" r:id="rId12"/>
    <p:sldId id="271" r:id="rId13"/>
    <p:sldId id="272" r:id="rId14"/>
    <p:sldId id="280" r:id="rId15"/>
    <p:sldId id="273" r:id="rId16"/>
    <p:sldId id="274" r:id="rId17"/>
    <p:sldId id="276" r:id="rId18"/>
    <p:sldId id="281" r:id="rId19"/>
    <p:sldId id="282" r:id="rId20"/>
    <p:sldId id="292" r:id="rId21"/>
    <p:sldId id="293" r:id="rId22"/>
    <p:sldId id="294" r:id="rId23"/>
    <p:sldId id="295" r:id="rId24"/>
    <p:sldId id="296" r:id="rId25"/>
    <p:sldId id="301" r:id="rId26"/>
    <p:sldId id="297" r:id="rId27"/>
    <p:sldId id="298" r:id="rId28"/>
    <p:sldId id="299" r:id="rId29"/>
    <p:sldId id="300" r:id="rId30"/>
    <p:sldId id="285" r:id="rId31"/>
    <p:sldId id="302" r:id="rId32"/>
    <p:sldId id="286" r:id="rId33"/>
    <p:sldId id="303" r:id="rId34"/>
    <p:sldId id="287" r:id="rId35"/>
    <p:sldId id="304" r:id="rId36"/>
    <p:sldId id="305" r:id="rId37"/>
    <p:sldId id="307" r:id="rId38"/>
    <p:sldId id="309" r:id="rId39"/>
    <p:sldId id="308" r:id="rId40"/>
    <p:sldId id="263" r:id="rId41"/>
    <p:sldId id="278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4" autoAdjust="0"/>
    <p:restoredTop sz="94660"/>
  </p:normalViewPr>
  <p:slideViewPr>
    <p:cSldViewPr snapToGrid="0">
      <p:cViewPr varScale="1">
        <p:scale>
          <a:sx n="96" d="100"/>
          <a:sy n="96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8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61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15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0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4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62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9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7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4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200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605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07768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0367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6843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057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0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82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50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60CB-84D8-3AE6-2824-76F8A3C9E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215128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 HYBRID DEMAND FORECASTING MODEL FOR AN EXPORT-DRIVEN NATURAL FIBRE INDUSTRY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5E832-5E73-F43D-14EC-1CA916854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8730" y="4649084"/>
            <a:ext cx="5009321" cy="1122363"/>
          </a:xfrm>
        </p:spPr>
        <p:txBody>
          <a:bodyPr>
            <a:noAutofit/>
          </a:bodyPr>
          <a:lstStyle/>
          <a:p>
            <a:r>
              <a:rPr lang="en-US" sz="1800" dirty="0"/>
              <a:t>PRESENTED BY: </a:t>
            </a:r>
            <a:r>
              <a:rPr lang="en-US" sz="2000" b="1" dirty="0">
                <a:latin typeface="Century Gothic (Body)"/>
              </a:rPr>
              <a:t>Antony John Berchmans</a:t>
            </a:r>
            <a:endParaRPr lang="en-US" sz="1800" b="1" dirty="0">
              <a:latin typeface="Century Gothic (Body)"/>
            </a:endParaRPr>
          </a:p>
          <a:p>
            <a:r>
              <a:rPr lang="en-US" sz="1800" b="1" dirty="0">
                <a:latin typeface="Century Gothic (Body)"/>
              </a:rPr>
              <a:t>TCR24MEIM05</a:t>
            </a:r>
          </a:p>
          <a:p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49D72-2AE4-6E24-133E-2F6F07BCC9A3}"/>
              </a:ext>
            </a:extLst>
          </p:cNvPr>
          <p:cNvSpPr txBox="1"/>
          <p:nvPr/>
        </p:nvSpPr>
        <p:spPr>
          <a:xfrm>
            <a:off x="-602974" y="4649084"/>
            <a:ext cx="71760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GUIDED BY</a:t>
            </a:r>
            <a:r>
              <a:rPr lang="en-US" dirty="0">
                <a:latin typeface="Century Gothic (Body)"/>
              </a:rPr>
              <a:t>: </a:t>
            </a:r>
            <a:r>
              <a:rPr lang="en-US" sz="2000" b="1" dirty="0">
                <a:latin typeface="Century Gothic (Body)"/>
                <a:ea typeface="Aptos" panose="020B0004020202020204" pitchFamily="34" charset="0"/>
              </a:rPr>
              <a:t>Dr. MADHUSOODANAN M.R.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Century Gothic (Body)"/>
              </a:rPr>
              <a:t> </a:t>
            </a:r>
            <a:r>
              <a:rPr lang="en-US" b="1" dirty="0"/>
              <a:t>Department of Mechanical Engineering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D78E3-6FFD-4A1A-8B65-CDF39BEFEF33}"/>
              </a:ext>
            </a:extLst>
          </p:cNvPr>
          <p:cNvSpPr txBox="1"/>
          <p:nvPr/>
        </p:nvSpPr>
        <p:spPr>
          <a:xfrm>
            <a:off x="9932504" y="6334538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Date: 02-06-2026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378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0DF8-D720-DB8C-59F1-F80D47F8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7374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DA3F22-1199-03C1-E6C8-3313E58F16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419" y="1798131"/>
            <a:ext cx="11933581" cy="555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b="1" dirty="0"/>
              <a:t>The natural fibre industry plays a vital role in sustainable manufacturing</a:t>
            </a:r>
            <a:r>
              <a:rPr lang="en-IN" sz="1800" dirty="0"/>
              <a:t>, supplying fibres like jute, coir, sisal, banana fibre, hemp, and bamboo to textiles, composites, packaging, and agriculture.</a:t>
            </a:r>
            <a:endParaRPr lang="en-US" sz="18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Global demand for natural </a:t>
            </a:r>
            <a:r>
              <a:rPr lang="en-US" sz="1800" b="1" dirty="0" err="1"/>
              <a:t>fibres</a:t>
            </a:r>
            <a:r>
              <a:rPr lang="en-US" sz="1800" b="1" dirty="0"/>
              <a:t> is rising</a:t>
            </a:r>
            <a:r>
              <a:rPr lang="en-US" sz="1800" dirty="0"/>
              <a:t>, driven by increasing environmental awareness, bans on plastics, and the shift toward biodegradable materials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Despite its growth, the industry faces high variability</a:t>
            </a:r>
            <a:r>
              <a:rPr lang="en-US" sz="1800" dirty="0"/>
              <a:t> due to climate conditions, rainfall patterns, pest attacks, and seasonal production cycles.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A hybrid forecasting approach becomes necessary</a:t>
            </a:r>
            <a:r>
              <a:rPr lang="en-US" sz="1800" dirty="0"/>
              <a:t> to address the limitations of single models and produce more reliable demand predictions.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Improved forecasting accuracy helps reduce uncertainty</a:t>
            </a:r>
            <a:r>
              <a:rPr lang="en-US" sz="1800" dirty="0"/>
              <a:t>, enabling companies to avoid overstocking, shortages, and price instability.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This study presents a hybrid forecasting model</a:t>
            </a:r>
            <a:r>
              <a:rPr lang="en-US" sz="1800" dirty="0"/>
              <a:t> designed to enhance forecast reliability, support strategic decision-making, and strengthen competitiveness within the natural </a:t>
            </a:r>
            <a:r>
              <a:rPr lang="en-US" sz="1800" dirty="0" err="1"/>
              <a:t>fibre</a:t>
            </a:r>
            <a:r>
              <a:rPr lang="en-US" sz="1800" dirty="0"/>
              <a:t> industry.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0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BE0A-CB5B-F816-2E71-50CA1FA1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41" y="843194"/>
            <a:ext cx="10058400" cy="1450757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dirty="0"/>
              <a:t>OBJECTIVE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190F8A-6BDA-71E3-8972-ABA2431053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3541" y="2077119"/>
            <a:ext cx="10266228" cy="3366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To </a:t>
            </a:r>
            <a:r>
              <a:rPr lang="en-US" sz="1800" dirty="0" err="1"/>
              <a:t>analyse</a:t>
            </a:r>
            <a:r>
              <a:rPr lang="en-US" sz="1800" dirty="0"/>
              <a:t> historical sales data of the export-driven natural </a:t>
            </a:r>
            <a:r>
              <a:rPr lang="en-US" sz="1800" dirty="0" err="1"/>
              <a:t>fibre</a:t>
            </a:r>
            <a:r>
              <a:rPr lang="en-US" sz="1800" dirty="0"/>
              <a:t> industry to identify seasonal, trend, and cyclical demand patterns.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To develop and implement time-series and machine learning models (ARIMA, SARIMA, </a:t>
            </a:r>
            <a:r>
              <a:rPr lang="en-US" sz="1800" dirty="0" err="1"/>
              <a:t>XGBoost</a:t>
            </a:r>
            <a:r>
              <a:rPr lang="en-US" sz="1800" dirty="0"/>
              <a:t>) for product demand forecasting.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To compare the forecasting performance of different models using statistical accuracy metrics such as MAE, RMSE, and MAPE.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To construct a hybrid forecasting framework that combines linear and non-linear modelling approaches to improve prediction accuracy.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0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4862-0D27-6496-1A05-37CF2686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6251F-268C-C797-DE21-5DE094C71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374936"/>
              </p:ext>
            </p:extLst>
          </p:nvPr>
        </p:nvGraphicFramePr>
        <p:xfrm>
          <a:off x="1097280" y="1964267"/>
          <a:ext cx="10058400" cy="38608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90693023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75134275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8057632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019887500"/>
                    </a:ext>
                  </a:extLst>
                </a:gridCol>
              </a:tblGrid>
              <a:tr h="43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Author &amp; Year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Method Used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Key Finding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Limitation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40843"/>
                  </a:ext>
                </a:extLst>
              </a:tr>
              <a:tr h="6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Wang &amp; Zain (2025)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Hybrid XGBoost-LSTM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Improved retail demand forecasting accuracy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 computational complexity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44202"/>
                  </a:ext>
                </a:extLst>
              </a:tr>
              <a:tr h="902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Kubek &amp; </a:t>
                      </a:r>
                      <a:r>
                        <a:rPr lang="en-IN" sz="1400" dirty="0" err="1"/>
                        <a:t>Więcek</a:t>
                      </a:r>
                      <a:r>
                        <a:rPr lang="en-IN" sz="1400" dirty="0"/>
                        <a:t> (2025)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Hybrid ARIMA-Markov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Better forecasting for variable demand patterns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nonlinear learning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25225"/>
                  </a:ext>
                </a:extLst>
              </a:tr>
              <a:tr h="6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Huang &amp; Zhou (2025)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ARIMA-CNN-LSTM Hybrid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Reduced forecasting error significantly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Deep learning requires large datasets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289485"/>
                  </a:ext>
                </a:extLst>
              </a:tr>
              <a:tr h="6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Saivijayalakshmi</a:t>
                      </a:r>
                      <a:r>
                        <a:rPr lang="en-IN" sz="1400" dirty="0"/>
                        <a:t> et al. (2025)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Hybrid ARIMA-SARIMA-LSTM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Improved export forecasting accuracy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Model complexity increased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684334"/>
                  </a:ext>
                </a:extLst>
              </a:tr>
              <a:tr h="6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Chaudhuri &amp; Alkan (2022)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Optimized Hybrid ML Model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Better nonlinear demand prediction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Less focus on seasonal demand</a:t>
                      </a:r>
                    </a:p>
                  </a:txBody>
                  <a:tcPr marL="72323" marR="72323" marT="36161" marB="361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12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13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83CC-E97B-1417-1456-BE481E55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D039-2038-8301-7B7B-BE28C040E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High volatility and unpredictability in demand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Single forecasting models produce poor accuracy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Seasonal and trend components are not handled well individually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Sensitivity to outliers and data noise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Poor performance when demand fluctuates irregularly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80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2766C9D-9FEA-B18B-48A4-C71DE1E9668C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METHODOLOGY</a:t>
            </a:r>
            <a:endParaRPr lang="en-IN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2FA757E3-F119-EDD0-F07F-157F65B161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1DFD2-4123-3F42-F22A-4D6A7B9E8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464" y="1011981"/>
            <a:ext cx="3635071" cy="505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C436-F381-62A9-C52D-313C671E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439" y="569844"/>
            <a:ext cx="10353761" cy="1326321"/>
          </a:xfrm>
        </p:spPr>
        <p:txBody>
          <a:bodyPr/>
          <a:lstStyle/>
          <a:p>
            <a:pPr algn="ctr"/>
            <a:r>
              <a:rPr lang="en-IN" b="1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668A2A-43D7-A25A-D672-6C3DDAAE4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1899" y="2227181"/>
            <a:ext cx="9860713" cy="2119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real monthly sales data </a:t>
            </a:r>
            <a:r>
              <a:rPr lang="en-US" altLang="en-US" sz="1800" dirty="0">
                <a:solidFill>
                  <a:schemeClr val="tx1"/>
                </a:solidFill>
              </a:rPr>
              <a:t>of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manufacturing company.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Use sales data to train the model.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Forecasts make the forecast for the upcoming year.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traditional models (Naive, Moving Average, Regression) with the Hybrid model.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Compare and validate with accuracy metrics</a:t>
            </a:r>
            <a:r>
              <a:rPr lang="en-IN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9273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E9EC-E77E-E96A-02DB-1FE204D1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53400-23A7-E1DA-B3E1-4A6F3276A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132321"/>
            <a:ext cx="10353675" cy="362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9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228B-9C14-DBE6-1DC7-F139282B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56B9-64D8-796B-A0AD-BC8B8D767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835399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b="1" dirty="0">
                <a:latin typeface="+mj-lt"/>
              </a:rPr>
              <a:t>1. </a:t>
            </a:r>
            <a:r>
              <a:rPr lang="en-IN" sz="2000" b="1" dirty="0" err="1">
                <a:latin typeface="+mj-lt"/>
              </a:rPr>
              <a:t>XGBoost</a:t>
            </a:r>
            <a:r>
              <a:rPr lang="en-IN" sz="2000" b="1" dirty="0">
                <a:latin typeface="+mj-lt"/>
              </a:rPr>
              <a:t> (Extreme Gradient Boosting)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Builds a </a:t>
            </a:r>
            <a:r>
              <a:rPr lang="en-US" altLang="en-US" sz="1800" b="1" dirty="0">
                <a:solidFill>
                  <a:schemeClr val="tx1"/>
                </a:solidFill>
              </a:rPr>
              <a:t>strong predictive model by combining multiple weak learners</a:t>
            </a:r>
            <a:r>
              <a:rPr lang="en-US" altLang="en-US" sz="1800" dirty="0">
                <a:solidFill>
                  <a:schemeClr val="tx1"/>
                </a:solidFill>
              </a:rPr>
              <a:t> (usually decision trees) sequentially.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Each new learner focuses on </a:t>
            </a:r>
            <a:r>
              <a:rPr lang="en-US" altLang="en-US" sz="1800" b="1" dirty="0">
                <a:solidFill>
                  <a:schemeClr val="tx1"/>
                </a:solidFill>
              </a:rPr>
              <a:t>correcting the errors (residuals)</a:t>
            </a:r>
            <a:r>
              <a:rPr lang="en-US" altLang="en-US" sz="1800" dirty="0">
                <a:solidFill>
                  <a:schemeClr val="tx1"/>
                </a:solidFill>
              </a:rPr>
              <a:t> made by previous models.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Uses </a:t>
            </a:r>
            <a:r>
              <a:rPr lang="en-US" altLang="en-US" sz="1800" b="1" dirty="0">
                <a:solidFill>
                  <a:schemeClr val="tx1"/>
                </a:solidFill>
              </a:rPr>
              <a:t>gradients from a loss function</a:t>
            </a:r>
            <a:r>
              <a:rPr lang="en-US" altLang="en-US" sz="1800" dirty="0">
                <a:solidFill>
                  <a:schemeClr val="tx1"/>
                </a:solidFill>
              </a:rPr>
              <a:t> to minimize errors and improve predictions iteratively.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Handles </a:t>
            </a:r>
            <a:r>
              <a:rPr lang="en-US" altLang="en-US" sz="1800" b="1" dirty="0">
                <a:solidFill>
                  <a:schemeClr val="tx1"/>
                </a:solidFill>
              </a:rPr>
              <a:t>complex nonlinear relationships</a:t>
            </a:r>
            <a:r>
              <a:rPr lang="en-US" altLang="en-US" sz="1800" dirty="0">
                <a:solidFill>
                  <a:schemeClr val="tx1"/>
                </a:solidFill>
              </a:rPr>
              <a:t> effectively and delivers high accuracy.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Provides </a:t>
            </a:r>
            <a:r>
              <a:rPr lang="en-US" altLang="en-US" sz="1800" b="1" dirty="0">
                <a:solidFill>
                  <a:schemeClr val="tx1"/>
                </a:solidFill>
              </a:rPr>
              <a:t>feature importance</a:t>
            </a:r>
            <a:r>
              <a:rPr lang="en-US" altLang="en-US" sz="1800" dirty="0">
                <a:solidFill>
                  <a:schemeClr val="tx1"/>
                </a:solidFill>
              </a:rPr>
              <a:t>, improving interpretability and helping in better decision-making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221413-FBAD-C0FE-475B-BB8783FF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8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1E06-1B15-3ABA-23B2-612144BE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50444-5F49-B8D1-4304-20B5B395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2. </a:t>
            </a:r>
            <a:r>
              <a:rPr lang="en-US" sz="2000" b="1" dirty="0">
                <a:latin typeface="+mj-lt"/>
              </a:rPr>
              <a:t>ARIMA (</a:t>
            </a:r>
            <a:r>
              <a:rPr lang="en-US" sz="2000" b="1" dirty="0" err="1">
                <a:latin typeface="+mj-lt"/>
              </a:rPr>
              <a:t>AutoRegressive</a:t>
            </a:r>
            <a:r>
              <a:rPr lang="en-US" sz="2000" b="1" dirty="0">
                <a:latin typeface="+mj-lt"/>
              </a:rPr>
              <a:t> Integrated Moving Average)</a:t>
            </a:r>
            <a:endParaRPr lang="en-IN" sz="2000" b="1" dirty="0">
              <a:latin typeface="+mj-lt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b="1" dirty="0"/>
              <a:t>statistical time-series forecasting model</a:t>
            </a:r>
            <a:r>
              <a:rPr lang="en-US" sz="1800" dirty="0"/>
              <a:t> widely used in finance, economics, and engineering.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Consists of three components: </a:t>
            </a:r>
            <a:r>
              <a:rPr lang="en-US" sz="1800" b="1" dirty="0"/>
              <a:t>AR (p)</a:t>
            </a:r>
            <a:r>
              <a:rPr lang="en-US" sz="1800" dirty="0"/>
              <a:t> – uses past observations, </a:t>
            </a:r>
            <a:r>
              <a:rPr lang="en-US" sz="1800" b="1" dirty="0"/>
              <a:t>I (d)</a:t>
            </a:r>
            <a:r>
              <a:rPr lang="en-US" sz="1800" dirty="0"/>
              <a:t> – differencing to make data stationary, </a:t>
            </a:r>
            <a:r>
              <a:rPr lang="en-US" sz="1800" b="1" dirty="0"/>
              <a:t>MA (q)</a:t>
            </a:r>
            <a:r>
              <a:rPr lang="en-US" sz="1800" dirty="0"/>
              <a:t> – uses past forecast errors.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Autoregressive (AR)</a:t>
            </a:r>
            <a:r>
              <a:rPr lang="en-US" sz="1800" dirty="0"/>
              <a:t> models future values based on previous time steps.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Integrated (I)</a:t>
            </a:r>
            <a:r>
              <a:rPr lang="en-US" sz="1800" dirty="0"/>
              <a:t> removes trends using differencing to ensure </a:t>
            </a:r>
            <a:r>
              <a:rPr lang="en-US" sz="1800" b="1" dirty="0"/>
              <a:t>stationarity</a:t>
            </a:r>
            <a:r>
              <a:rPr lang="en-US" sz="1800" dirty="0"/>
              <a:t>, which is essential for ARIMA accuracy.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1" dirty="0"/>
              <a:t>Moving Average (MA)</a:t>
            </a:r>
            <a:r>
              <a:rPr lang="en-US" sz="1800" dirty="0"/>
              <a:t> accounts for short-term fluctuations using error patterns from prior predictions.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4826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7C31-50D4-6071-6BBE-B2403180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D733-5550-DCA7-3934-6E58F1BF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6968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34469-4AF9-2ECC-B766-6D05DD2FA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21566"/>
            <a:ext cx="9660835" cy="44394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3. S</a:t>
            </a:r>
            <a:r>
              <a:rPr lang="en-US" sz="1800" b="1" dirty="0">
                <a:latin typeface="+mj-lt"/>
              </a:rPr>
              <a:t>ARIMA (Seasonal </a:t>
            </a:r>
            <a:r>
              <a:rPr lang="en-US" sz="1800" b="1" dirty="0" err="1">
                <a:latin typeface="+mj-lt"/>
              </a:rPr>
              <a:t>AutoRegressive</a:t>
            </a:r>
            <a:r>
              <a:rPr lang="en-US" sz="1800" b="1" dirty="0">
                <a:latin typeface="+mj-lt"/>
              </a:rPr>
              <a:t> Integrated Moving Average)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Purpose:</a:t>
            </a:r>
            <a:r>
              <a:rPr lang="en-IN" sz="1800" dirty="0"/>
              <a:t> Forecast time series with </a:t>
            </a:r>
            <a:r>
              <a:rPr lang="en-IN" sz="1800" b="1" dirty="0"/>
              <a:t>trend + seasonality</a:t>
            </a:r>
            <a:r>
              <a:rPr lang="en-IN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Model structure:</a:t>
            </a:r>
            <a:r>
              <a:rPr lang="en-IN" sz="1800" dirty="0"/>
              <a:t> Combines ARIMA with seasonal components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Captures:</a:t>
            </a:r>
            <a:r>
              <a:rPr lang="en-IN" sz="1800" dirty="0"/>
              <a:t> 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Past values (autoregression) 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Trend (differencing) 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Seasonality (repeating patterns, e.g., yearly cycles) </a:t>
            </a:r>
          </a:p>
          <a:p>
            <a:r>
              <a:rPr lang="en-IN" sz="1800" b="1" dirty="0"/>
              <a:t>Parameters: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Non-seasonal: </a:t>
            </a:r>
            <a:r>
              <a:rPr lang="en-IN" sz="1800" i="1" dirty="0"/>
              <a:t>(p, d, q)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Seasonal: </a:t>
            </a:r>
            <a:r>
              <a:rPr lang="en-IN" sz="1800" i="1" dirty="0"/>
              <a:t>(P, D, Q, s)</a:t>
            </a:r>
            <a:r>
              <a:rPr lang="en-IN" sz="1800" dirty="0"/>
              <a:t> </a:t>
            </a:r>
          </a:p>
          <a:p>
            <a:pPr lvl="1"/>
            <a:r>
              <a:rPr lang="en-IN" sz="1800" i="1" dirty="0"/>
              <a:t>s = seasonal period (e.g., 12 for monthly data)</a:t>
            </a:r>
            <a:r>
              <a:rPr lang="en-IN" sz="1800" dirty="0"/>
              <a:t> </a:t>
            </a:r>
          </a:p>
          <a:p>
            <a:pPr>
              <a:lnSpc>
                <a:spcPct val="1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293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6AA7-3D6A-3C23-A893-1A1219B1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EFCF-6EE9-965E-D506-2EDFC826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1. MAPE – Mean Absolute Percentage Error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Measures the average forecast error </a:t>
            </a:r>
            <a:r>
              <a:rPr lang="en-US" altLang="en-US" b="1" dirty="0">
                <a:solidFill>
                  <a:schemeClr val="tx1"/>
                </a:solidFill>
              </a:rPr>
              <a:t>as a percentage of actual values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Formula: </a:t>
            </a:r>
            <a:r>
              <a:rPr lang="en-US" altLang="en-US" i="1" dirty="0">
                <a:solidFill>
                  <a:schemeClr val="tx1"/>
                </a:solidFill>
              </a:rPr>
              <a:t>MAPE = (1/n) Σ |(Actual – Forecast) / Actual| × 100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Easy to interpret and compare across different datasets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</a:rPr>
              <a:t>Lower MAPE = more accurate model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Highly preferred in business forecasting applications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Used as the </a:t>
            </a:r>
            <a:r>
              <a:rPr lang="en-US" altLang="en-US" b="1" dirty="0">
                <a:solidFill>
                  <a:schemeClr val="tx1"/>
                </a:solidFill>
              </a:rPr>
              <a:t>primary accuracy metric</a:t>
            </a:r>
            <a:r>
              <a:rPr lang="en-US" altLang="en-US" dirty="0">
                <a:solidFill>
                  <a:schemeClr val="tx1"/>
                </a:solidFill>
              </a:rPr>
              <a:t> in the paper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8318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D75D-D291-BBC4-DB9A-F27DF247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7227-48FD-83CF-EE49-2A0209A5C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2. RMSE – Root Mean Square Error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Measures how large the errors are between actual and predicted values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Formula: </a:t>
            </a:r>
            <a:r>
              <a:rPr lang="en-US" i="1" dirty="0"/>
              <a:t>RMSE = sqrt((1/n) Σ (Actual – Forecast)²)</a:t>
            </a:r>
            <a:endParaRPr lang="en-US" dirty="0"/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Errors are squared → </a:t>
            </a:r>
            <a:r>
              <a:rPr lang="en-US" b="1" dirty="0"/>
              <a:t>penalizes large deviations heavily</a:t>
            </a:r>
            <a:endParaRPr lang="en-US" dirty="0"/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Expressed in the </a:t>
            </a:r>
            <a:r>
              <a:rPr lang="en-US" b="1" dirty="0"/>
              <a:t>same units as the data</a:t>
            </a:r>
            <a:endParaRPr lang="en-US" dirty="0"/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Good for identifying large forecasting mistakes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Lower RMSE indicates </a:t>
            </a:r>
            <a:r>
              <a:rPr lang="en-US" b="1" dirty="0"/>
              <a:t>more stable and reliable predictions</a:t>
            </a:r>
            <a:endParaRPr lang="en-US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62991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0D38-E74D-D486-524E-8DA3374F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11D26-088F-B4A5-C2F3-3A154609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3.MAE – Mean Absolute Error</a:t>
            </a:r>
            <a:endParaRPr lang="en-US" sz="2000" b="1" dirty="0">
              <a:latin typeface="+mj-lt"/>
            </a:endParaRP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Measures the average magnitude of prediction errors 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Uses absolute values, so negative and positive errors do not cancel each other 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Easy to understand because errors remain in the original unit of data 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Less sensitive to large errors compared to MSE </a:t>
            </a:r>
          </a:p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dirty="0"/>
              <a:t>Lower MAE indicates better forecasting accuracy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417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E4E7-F790-DBFA-58D6-20C9DAE1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LIBRARIES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F7B69E90-3030-2AB8-DD17-B984B2B68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689" y="1982911"/>
            <a:ext cx="8640566" cy="43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2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86B9-C483-5379-FD43-0EC235E5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C43D7-2BA4-7955-67E1-BC3494BD5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2373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of </a:t>
            </a:r>
            <a:r>
              <a:rPr lang="en-US" b="1" dirty="0"/>
              <a:t>converting raw data into clean, usable data</a:t>
            </a:r>
            <a:r>
              <a:rPr lang="en-US" dirty="0"/>
              <a:t> before analysis or Machine Learning.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 </a:t>
            </a:r>
            <a:r>
              <a:rPr lang="en-IN" sz="1800" b="1" dirty="0"/>
              <a:t>Main Steps of Data Preprocessing</a:t>
            </a:r>
          </a:p>
          <a:p>
            <a:pPr marL="0" indent="0">
              <a:buNone/>
            </a:pPr>
            <a:r>
              <a:rPr lang="en-IN" sz="1800" b="1" dirty="0"/>
              <a:t>  1. Import Libraries &amp; Dataset</a:t>
            </a:r>
            <a:endParaRPr lang="en-IN" sz="1800" dirty="0"/>
          </a:p>
          <a:p>
            <a:pPr lvl="1"/>
            <a:r>
              <a:rPr lang="en-IN" dirty="0"/>
              <a:t>Load dataset using Pandas / NumPy </a:t>
            </a:r>
          </a:p>
          <a:p>
            <a:pPr marL="0" indent="0">
              <a:buNone/>
            </a:pPr>
            <a:r>
              <a:rPr lang="en-IN" sz="1800" b="1" dirty="0"/>
              <a:t>  2. Data Cleaning</a:t>
            </a:r>
            <a:endParaRPr lang="en-IN" sz="1800" dirty="0"/>
          </a:p>
          <a:p>
            <a:pPr lvl="1" algn="just">
              <a:buClr>
                <a:schemeClr val="tx1"/>
              </a:buClr>
            </a:pPr>
            <a:r>
              <a:rPr lang="en-IN" dirty="0"/>
              <a:t>Handle missing values </a:t>
            </a:r>
          </a:p>
          <a:p>
            <a:pPr lvl="1" algn="just">
              <a:buClr>
                <a:schemeClr val="tx1"/>
              </a:buClr>
            </a:pPr>
            <a:r>
              <a:rPr lang="en-IN" dirty="0"/>
              <a:t>Remove duplicates </a:t>
            </a:r>
          </a:p>
          <a:p>
            <a:pPr lvl="1" algn="just">
              <a:buClr>
                <a:schemeClr val="tx1"/>
              </a:buClr>
            </a:pPr>
            <a:r>
              <a:rPr lang="en-IN" dirty="0"/>
              <a:t>Fix incorrect data </a:t>
            </a:r>
          </a:p>
          <a:p>
            <a:pPr lvl="1" algn="just">
              <a:buClr>
                <a:schemeClr val="tx1"/>
              </a:buClr>
            </a:pPr>
            <a:r>
              <a:rPr lang="en-IN" dirty="0"/>
              <a:t>Handle noisy data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CEE8B7-8092-D651-0C26-8D54916F986C}"/>
              </a:ext>
            </a:extLst>
          </p:cNvPr>
          <p:cNvSpPr txBox="1">
            <a:spLocks/>
          </p:cNvSpPr>
          <p:nvPr/>
        </p:nvSpPr>
        <p:spPr>
          <a:xfrm>
            <a:off x="6515944" y="2536196"/>
            <a:ext cx="4639736" cy="36957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 </a:t>
            </a:r>
            <a:r>
              <a:rPr lang="en-IN" sz="1800" b="1" dirty="0"/>
              <a:t>3. Data Integration</a:t>
            </a:r>
            <a:endParaRPr lang="en-IN" sz="1800" dirty="0"/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Combine multiple datasets </a:t>
            </a:r>
          </a:p>
          <a:p>
            <a:r>
              <a:rPr lang="en-IN" sz="1800" dirty="0"/>
              <a:t> </a:t>
            </a:r>
            <a:r>
              <a:rPr lang="en-IN" sz="1800" b="1" dirty="0"/>
              <a:t>4. Data Transformation</a:t>
            </a:r>
            <a:endParaRPr lang="en-IN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Normalize / standardize values 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Convert data types </a:t>
            </a:r>
          </a:p>
          <a:p>
            <a:r>
              <a:rPr lang="en-IN" sz="1800" dirty="0"/>
              <a:t> </a:t>
            </a:r>
            <a:r>
              <a:rPr lang="en-IN" sz="1800" b="1" dirty="0"/>
              <a:t>5. Encoding Categorical Data</a:t>
            </a:r>
            <a:endParaRPr lang="en-IN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800" dirty="0"/>
              <a:t>Convert text → numbers</a:t>
            </a:r>
            <a:br>
              <a:rPr lang="en-IN" sz="1800" dirty="0"/>
            </a:br>
            <a:r>
              <a:rPr lang="en-IN" sz="1800" i="1" dirty="0"/>
              <a:t>(Label Encoding / One-Hot Encoding)</a:t>
            </a:r>
            <a:r>
              <a:rPr lang="en-IN" sz="1800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68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DD4D-E4BE-185F-80DD-162FCABA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PREPROCESSING AND 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EBE723-FD62-93A2-5903-7CEA82E2E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011" y="2085114"/>
            <a:ext cx="9616611" cy="1069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EFAAA-9AFD-1019-D33D-C1EE3E728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010" y="3318554"/>
            <a:ext cx="9616611" cy="1634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A3F76-9BFE-CED5-8E12-EB42987F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011" y="5124772"/>
            <a:ext cx="9616610" cy="89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7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D733-92C6-9348-B3E0-6D2C540E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2982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TRAIN 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4CBA-28E0-C585-7CF9-12C67D5D8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39" y="1872077"/>
            <a:ext cx="11667281" cy="4872941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dataset is divided into two subsets: </a:t>
            </a:r>
            <a:r>
              <a:rPr lang="en-US" sz="1800" b="1" dirty="0"/>
              <a:t>training data (80%)</a:t>
            </a:r>
            <a:r>
              <a:rPr lang="en-US" sz="1800" dirty="0"/>
              <a:t> and </a:t>
            </a:r>
            <a:r>
              <a:rPr lang="en-US" sz="1800" b="1" dirty="0"/>
              <a:t>testing data (20%)</a:t>
            </a:r>
            <a:r>
              <a:rPr lang="en-US" sz="1800" dirty="0"/>
              <a:t> for model development and evaluation.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b="1" dirty="0"/>
              <a:t>training dataset</a:t>
            </a:r>
            <a:r>
              <a:rPr lang="en-US" sz="1800" dirty="0"/>
              <a:t> is used to train the forecasting models and allow them to learn demand patterns from historical sales data.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b="1" dirty="0"/>
              <a:t>testing dataset</a:t>
            </a:r>
            <a:r>
              <a:rPr lang="en-US" sz="1800" dirty="0"/>
              <a:t> is used to evaluate the prediction performance of the trained models on unseen data.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Train-test splitting helps in measuring the model’s ability to </a:t>
            </a:r>
            <a:r>
              <a:rPr lang="en-US" sz="1800" b="1" dirty="0"/>
              <a:t>generalize effectively</a:t>
            </a:r>
            <a:r>
              <a:rPr lang="en-US" sz="1800" dirty="0"/>
              <a:t> to new real-world demand conditions.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Proper data partitioning prevents the issue of </a:t>
            </a:r>
            <a:r>
              <a:rPr lang="en-US" sz="1800" b="1" dirty="0"/>
              <a:t>overfitting</a:t>
            </a:r>
            <a:r>
              <a:rPr lang="en-US" sz="1800" dirty="0"/>
              <a:t>, where the model memorizes training data instead of learning meaningful patterns.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split ensures a fair comparison between ARIMA, SARIMA, </a:t>
            </a:r>
            <a:r>
              <a:rPr lang="en-US" sz="1800" dirty="0" err="1"/>
              <a:t>XGBoost</a:t>
            </a:r>
            <a:r>
              <a:rPr lang="en-US" sz="1800" dirty="0"/>
              <a:t>, and hybrid forecasting models using identical test conditions.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91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1545-9105-40C9-955E-4458EC24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8B26D-0D71-5D3E-EF58-FA941A4ED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Train-test splitting improves the reliability, robustness, and practical applicability of the forecasting system for industrial demand prediction.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5A638-128D-8D7D-DC42-E4C99DE8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02" y="3113590"/>
            <a:ext cx="8449518" cy="275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3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1DDA-4C83-8293-F8FA-7C3CFD9A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 STATIONARITY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3804-19AF-8699-B76C-F1191B1AF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Augmented Dickey–Fuller (ADF) test is used to determine whether a time-series dataset is </a:t>
            </a:r>
            <a:r>
              <a:rPr lang="en-US" sz="1800" b="1" dirty="0"/>
              <a:t>stationary or non-stationary</a:t>
            </a:r>
            <a:r>
              <a:rPr lang="en-US" sz="1800" dirty="0"/>
              <a:t> by checking the presence of a unit root.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primary purpose of the ADF test is to verify whether the data satisfies the assumptions required for time-series forecasting models such as ARIMA and SARIMA.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Stationarity testing is important because non-stationary data can produce misleading statistical relationships and unreliable forecasting results.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ADF test helps identify trends, seasonality, and structural variations present in the demand data before model development.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Performing the ADF test improves forecasting reliability by ensuring that appropriate preprocessing techniques such as differencing or hybrid modelling are applied when necessary.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85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C92E-15B3-B01F-4DEE-922E897C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ADF STATIONARITY TEST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2F7237-C42C-ECA3-31E3-848FEE617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485412"/>
              </p:ext>
            </p:extLst>
          </p:nvPr>
        </p:nvGraphicFramePr>
        <p:xfrm>
          <a:off x="1986987" y="2260984"/>
          <a:ext cx="8218026" cy="3364312"/>
        </p:xfrm>
        <a:graphic>
          <a:graphicData uri="http://schemas.openxmlformats.org/drawingml/2006/table">
            <a:tbl>
              <a:tblPr/>
              <a:tblGrid>
                <a:gridCol w="2739342">
                  <a:extLst>
                    <a:ext uri="{9D8B030D-6E8A-4147-A177-3AD203B41FA5}">
                      <a16:colId xmlns:a16="http://schemas.microsoft.com/office/drawing/2014/main" val="1237611740"/>
                    </a:ext>
                  </a:extLst>
                </a:gridCol>
                <a:gridCol w="2739342">
                  <a:extLst>
                    <a:ext uri="{9D8B030D-6E8A-4147-A177-3AD203B41FA5}">
                      <a16:colId xmlns:a16="http://schemas.microsoft.com/office/drawing/2014/main" val="3602496779"/>
                    </a:ext>
                  </a:extLst>
                </a:gridCol>
                <a:gridCol w="2739342">
                  <a:extLst>
                    <a:ext uri="{9D8B030D-6E8A-4147-A177-3AD203B41FA5}">
                      <a16:colId xmlns:a16="http://schemas.microsoft.com/office/drawing/2014/main" val="3253590869"/>
                    </a:ext>
                  </a:extLst>
                </a:gridCol>
              </a:tblGrid>
              <a:tr h="841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ADF p-value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736576"/>
                  </a:ext>
                </a:extLst>
              </a:tr>
              <a:tr h="841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Door 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0.973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Strong Non-Stationary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3190"/>
                  </a:ext>
                </a:extLst>
              </a:tr>
              <a:tr h="841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Roll 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0.659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Non-Stationary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79424"/>
                  </a:ext>
                </a:extLst>
              </a:tr>
              <a:tr h="841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Geo Textile 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0.385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Non-Stationary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488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875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BABC-1337-6C8D-48B9-5F64038C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ADF TEST INTERPRETATION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94A71A-4A9D-E44B-207D-E7FF13DED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183" y="2016445"/>
            <a:ext cx="11191419" cy="419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p-value greater than 0.05 indicates that the time-series data is non-stationary and contains trends or seasonal variations.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Non-stationary demand data suggests that sales patterns change over time and cannot be modeled accurately using basic statistical forecasting methods alone.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ADF test results confirmed the presence of trend and seasonality in the product demand data, making preprocessing and hybrid modelling necessary. 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Since the dataset was found to be non-stationary, advanced forecasting approaches such as SARIMA and Hybrid SARIMA-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were applied to improve prediction accuracy.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ADF interpretation helped in selecting appropriate forecasting techniques capable of handling seasonal and nonlinear demand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effectively. </a:t>
            </a:r>
          </a:p>
        </p:txBody>
      </p:sp>
    </p:spTree>
    <p:extLst>
      <p:ext uri="{BB962C8B-B14F-4D97-AF65-F5344CB8AC3E}">
        <p14:creationId xmlns:p14="http://schemas.microsoft.com/office/powerpoint/2010/main" val="2282988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79DF-212F-9846-5C98-DCFCF0C6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Feature Scaling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D48FDC-AAB5-8809-F525-3C2F3058B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9919" y="1786206"/>
            <a:ext cx="10483742" cy="419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scaling is a preprocessing technique used to standardize input variables into a common numerical range before training machine learning models.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main purpose of feature scaling is to ensure that variables with larger numerical values do not dominate the learning process of the model.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scaling is important for machine learning algorithms such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hybrid models because it improves model stability, convergence speed, and prediction consistency.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this study,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StandardScaler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technique was applied to transform the data into a standardized format with a mean of 0 and standard deviation of 1.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scaling improves forecasting accuracy, reduces computational bias, and enhances the overall performance of machine learning-based demand forecasting models. </a:t>
            </a:r>
          </a:p>
        </p:txBody>
      </p:sp>
    </p:spTree>
    <p:extLst>
      <p:ext uri="{BB962C8B-B14F-4D97-AF65-F5344CB8AC3E}">
        <p14:creationId xmlns:p14="http://schemas.microsoft.com/office/powerpoint/2010/main" val="2192981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46DB-0866-CA2A-A13A-B145663C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D8632-4E6C-985F-B416-5ED40F96A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127567"/>
            <a:ext cx="10058400" cy="326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65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21A1-EF40-1B79-0A53-199FE0C1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Hybrid ARIMA-XGB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FB12A-908A-431A-EAFE-019AE98E3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Hybrid ARIMA-XGB combines the statistical forecasting capability of ARIMA with the nonlinear learning capability of </a:t>
            </a:r>
            <a:r>
              <a:rPr lang="en-US" dirty="0" err="1"/>
              <a:t>XGBoost</a:t>
            </a:r>
            <a:r>
              <a:rPr lang="en-US" dirty="0"/>
              <a:t> to improve time-series prediction accuracy.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The primary purpose of the Hybrid ARIMA-XGB model is to capture both linear trends and nonlinear residual patterns present in complex demand datasets.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In this hybrid approach, ARIMA first models the linear temporal structure, and </a:t>
            </a:r>
            <a:r>
              <a:rPr lang="en-US" dirty="0" err="1"/>
              <a:t>XGBoost</a:t>
            </a:r>
            <a:r>
              <a:rPr lang="en-US" dirty="0"/>
              <a:t> is then applied to predict the residual errors generated by the ARIMA model.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The model is important because standalone forecasting methods often fail to accurately represent seasonal fluctuations and nonlinear sales </a:t>
            </a:r>
            <a:r>
              <a:rPr lang="en-US" dirty="0" err="1"/>
              <a:t>behaviour</a:t>
            </a:r>
            <a:r>
              <a:rPr lang="en-US" dirty="0"/>
              <a:t> in industrial demand forecasting. 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Hybrid ARIMA-XGB improves forecasting accuracy, reduces prediction error, enhances model robustness, and provides better real-world forecasting performance compared to traditional individual models.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153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D9AF-4777-ACB0-C4EA-11083D6E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Hybrid SARIMA-XGB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BBFE-4B13-6F5B-44DF-14C3EE95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30" y="2085051"/>
            <a:ext cx="11781099" cy="414212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Hybrid SARIMA-XGB combines the seasonal forecasting capability of SARIMA with the nonlinear learning capability of </a:t>
            </a:r>
            <a:r>
              <a:rPr lang="en-US" sz="1800" dirty="0" err="1"/>
              <a:t>XGBoost</a:t>
            </a:r>
            <a:r>
              <a:rPr lang="en-US" sz="1800" dirty="0"/>
              <a:t> to improve demand forecasting accuracy.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primary purpose of the Hybrid SARIMA-XGB model is to capture: 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seasonal trends using SARIMA 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nonlinear residual patterns using </a:t>
            </a:r>
            <a:r>
              <a:rPr lang="en-US" sz="1800" dirty="0" err="1"/>
              <a:t>XGBoost</a:t>
            </a:r>
            <a:r>
              <a:rPr lang="en-US" sz="1800" dirty="0"/>
              <a:t>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 this hybrid approach, SARIMA first models the linear and seasonal </a:t>
            </a:r>
            <a:r>
              <a:rPr lang="en-US" sz="1800" dirty="0" err="1"/>
              <a:t>behaviour</a:t>
            </a:r>
            <a:r>
              <a:rPr lang="en-US" sz="1800" dirty="0"/>
              <a:t> of the time-series data, while </a:t>
            </a:r>
            <a:r>
              <a:rPr lang="en-US" sz="1800" dirty="0" err="1"/>
              <a:t>XGBoost</a:t>
            </a:r>
            <a:r>
              <a:rPr lang="en-US" sz="1800" dirty="0"/>
              <a:t> predicts the residual errors not captured by SARIMA.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model is important because industrial demand data contains complex seasonal fluctuations, external influences, and nonlinear sales </a:t>
            </a:r>
            <a:r>
              <a:rPr lang="en-US" sz="1800" dirty="0" err="1"/>
              <a:t>behaviour</a:t>
            </a:r>
            <a:r>
              <a:rPr lang="en-US" sz="1800" dirty="0"/>
              <a:t> that standalone models often fail to represent accurately.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Hybrid SARIMA-XGB improves forecasting accuracy, reduces prediction error, enhances model robustness, and provides better support for inventory planning, production scheduling, and export demand management.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46362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7E8F-6030-BC64-BA93-A7F462A9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DOOR MAT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625F84-1738-71F2-7863-83E06EBC6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24245"/>
              </p:ext>
            </p:extLst>
          </p:nvPr>
        </p:nvGraphicFramePr>
        <p:xfrm>
          <a:off x="1096963" y="2071868"/>
          <a:ext cx="10058400" cy="390067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92630807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81124795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1650978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591944315"/>
                    </a:ext>
                  </a:extLst>
                </a:gridCol>
              </a:tblGrid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607648"/>
                  </a:ext>
                </a:extLst>
              </a:tr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308.06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407.26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12.31%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01053"/>
                  </a:ext>
                </a:extLst>
              </a:tr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248.37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9.86%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18809"/>
                  </a:ext>
                </a:extLst>
              </a:tr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XGBoost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245.10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350.51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9.79%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76498"/>
                  </a:ext>
                </a:extLst>
              </a:tr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Hybrid 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273.53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9.28%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382844"/>
                  </a:ext>
                </a:extLst>
              </a:tr>
              <a:tr h="650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Hybrid 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173.05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221.38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7.66%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833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204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59E1-DDA6-7505-EEE6-368F377C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B3C9-324A-3F96-80EA-C0201AF1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INTERPRETATION:-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Hybrid SARIMA achieved the best forecasting accuracy with the lowest error values.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ARIMA produced the highest MAE, RMSE, and MAPE values.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SARIMA performed better than ARIMA due to seasonal pattern learning.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r>
              <a:rPr lang="en-IN" dirty="0"/>
              <a:t> captured nonlinear demand behaviour effectively.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Hybrid models outperformed standalone forecasting models for door mat sales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970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7C4A-0BE4-24D4-F090-772CCE38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ROLL MAT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5B0900-DA29-E8C1-7369-58C7D18C7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623233"/>
              </p:ext>
            </p:extLst>
          </p:nvPr>
        </p:nvGraphicFramePr>
        <p:xfrm>
          <a:off x="1096963" y="2106592"/>
          <a:ext cx="10058400" cy="39238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332098209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64145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1487864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560870540"/>
                    </a:ext>
                  </a:extLst>
                </a:gridCol>
              </a:tblGrid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693076"/>
                  </a:ext>
                </a:extLst>
              </a:tr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323.27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364.89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16.18%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993674"/>
                  </a:ext>
                </a:extLst>
              </a:tr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229.62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280.61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8770"/>
                  </a:ext>
                </a:extLst>
              </a:tr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XGBoost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197.98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256.92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024478"/>
                  </a:ext>
                </a:extLst>
              </a:tr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Hybrid 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285.91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341.60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14.40%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573670"/>
                  </a:ext>
                </a:extLst>
              </a:tr>
              <a:tr h="653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Hybrid 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175.86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219.34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8.49%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675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75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57E3-45FB-458B-63F6-8B2CDAA0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ED97-94CE-E9CC-70A5-5CA3301A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b="1" dirty="0"/>
              <a:t>INTERPRETATION:-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Hybrid SARIMA achieved the lowest forecasting error for Roll Mat demand prediction.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r>
              <a:rPr lang="en-IN" dirty="0"/>
              <a:t> performed better than ARIMA in capturing nonlinear sales behaviour.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SARIMA showed improved accuracy due to effective seasonal pattern modelling.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Hybrid models consistently outperformed standalone forecasting models.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Hybrid SARIMA-XGB provided the most reliable and accurate Roll Mat sales forecasts.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301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614F-D24A-34AD-7770-2B4AE67A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GEO TEXTILE MAT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5365F71-5402-EDFE-35C4-0FF47803F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178317"/>
              </p:ext>
            </p:extLst>
          </p:nvPr>
        </p:nvGraphicFramePr>
        <p:xfrm>
          <a:off x="1096963" y="2095018"/>
          <a:ext cx="10058400" cy="3865944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24641591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56110971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442725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22874695"/>
                    </a:ext>
                  </a:extLst>
                </a:gridCol>
              </a:tblGrid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221904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216.12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249.74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12.67%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681215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132.82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6.78%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32994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197.69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7.80%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314596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Hybrid 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117.89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165.23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6.61%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358186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Hybrid SARIMA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74.01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109.38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31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815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FF42-1D11-6456-45DD-F9943A9A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2A955E-514C-9288-9105-9F6FC922B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633" y="1911956"/>
            <a:ext cx="11552393" cy="333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INTERPRETATION:-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SARIMA achieved the highest forecasting accuracy with the lowest MAE, RMSE, and MAPE values.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Geo Textile Mat demand showed strong seasonal and nonlinear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SARIMA performed significantly better than ARIMA due to effective seasonal modelling.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models reduced forecasting error considerably compared to standalone models.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SARIMA-XGB provided the most reliable and accurate Geo Textile Mat demand forecasts. </a:t>
            </a:r>
          </a:p>
        </p:txBody>
      </p:sp>
    </p:spTree>
    <p:extLst>
      <p:ext uri="{BB962C8B-B14F-4D97-AF65-F5344CB8AC3E}">
        <p14:creationId xmlns:p14="http://schemas.microsoft.com/office/powerpoint/2010/main" val="2713141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FC2B-039C-744F-B618-9A9C20B6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OVERALL PERFORMANCE ANALYSIS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5CDF3E-6651-A55D-B030-AFC9A011B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97840"/>
            <a:ext cx="10361657" cy="378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solidFill>
                  <a:schemeClr val="tx1"/>
                </a:solidFill>
              </a:rPr>
              <a:t>KEY FINDINGS:-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SARIMA-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consistently achieved the lowest MAE, RMSE, and MAPE values across all products.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forecasting models performed better than standalone ARIMA, SARIMA,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SARIMA effectively captured seasonal demand variations in natural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fibre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product sales.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successfully modeled nonlinear demand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residual patterns.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integration of seasonal statistical modelling and machine learning significantly improved overall forecasting accu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racy and reliability. </a:t>
            </a:r>
          </a:p>
        </p:txBody>
      </p:sp>
    </p:spTree>
    <p:extLst>
      <p:ext uri="{BB962C8B-B14F-4D97-AF65-F5344CB8AC3E}">
        <p14:creationId xmlns:p14="http://schemas.microsoft.com/office/powerpoint/2010/main" val="341215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4D2C-AEA7-FB49-D413-DB0D5CE6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945AA-9837-E984-88FF-EE18ADAA8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039" y="1992453"/>
            <a:ext cx="7604567" cy="402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BE7EF-3653-8A7A-1400-BC251FBA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985" y="1581432"/>
            <a:ext cx="9654815" cy="369513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dirty="0"/>
              <a:t>Overall Best Model </a:t>
            </a:r>
            <a:r>
              <a:rPr lang="en-US" b="1" dirty="0"/>
              <a:t>:- </a:t>
            </a:r>
            <a:r>
              <a:rPr lang="en-US" sz="2200" b="1" dirty="0"/>
              <a:t>Hybrid SARIMA-</a:t>
            </a:r>
            <a:r>
              <a:rPr lang="en-US" sz="2200" b="1" dirty="0" err="1"/>
              <a:t>XGBoost</a:t>
            </a:r>
            <a:endParaRPr lang="en-US" sz="2200" b="1" dirty="0"/>
          </a:p>
          <a:p>
            <a:pPr marL="0" indent="0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b="1" dirty="0"/>
              <a:t>Reason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Combines:</a:t>
            </a:r>
          </a:p>
          <a:p>
            <a:pPr lvl="1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900" dirty="0"/>
              <a:t>Seasonal forecasting capability </a:t>
            </a:r>
          </a:p>
          <a:p>
            <a:pPr lvl="1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900" dirty="0"/>
              <a:t>Nonlinear residual learning </a:t>
            </a:r>
          </a:p>
          <a:p>
            <a:pPr marL="0" indent="0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b="1" dirty="0"/>
              <a:t>Result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Highest forecasting accuracy across all 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034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EF99-2689-DA49-3A03-D6A90654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EB2A02-FAD3-14A4-3505-3CD99F56D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003487"/>
            <a:ext cx="100583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Demand forecasting is essential for export-driven natural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fibre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industries.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models showed limitations in handling nonlinear seasonal data.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forecasting models improved prediction accuracy significantly.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SARIMA-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the best forecasting performance.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model can support: </a:t>
            </a:r>
          </a:p>
          <a:p>
            <a:pPr marL="57835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Inventory planning </a:t>
            </a:r>
          </a:p>
          <a:p>
            <a:pPr marL="57835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Production scheduling </a:t>
            </a:r>
          </a:p>
          <a:p>
            <a:pPr marL="57835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Export demand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484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84EF-F7C5-D2C6-642B-A6562B46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0D60-B2D1-442F-7775-E085570A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Aburto L and Weber L (2007), “Improved Supply Chain Management Based on Hybrid Demand Forecasts”, Applied Soft Computing, 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Anandhi V, Manicka Chezian R and Parthiban K T (2012), “Forecast of Demand and Supply of Pulpwood Using Artificial Neural Network”, International Journal of Computer Science and Telecommunications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Carbonneau R, Laframboise K and Vahidov R (2008), “Application of Machine Learning Techniques for Supply Chain Demand Forecasting”, European Journal of Operational Research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Chiu M and Lin G (2004), “Collaborative Supply Chain Planning Using the Artificial Neural Network Approach”, Journal of Manufacturing Technology Management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Chopra S and Meindl P (2004), “Supply Chain Management: Strategy, Planning and Operation, Prentice Hall.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9478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48ECED-F480-F888-F3B6-744B03BA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69" y="1962520"/>
            <a:ext cx="10113645" cy="1224627"/>
          </a:xfrm>
        </p:spPr>
        <p:txBody>
          <a:bodyPr/>
          <a:lstStyle/>
          <a:p>
            <a:pPr algn="ctr"/>
            <a:r>
              <a:rPr lang="en-IN" sz="6000" b="1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3513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3859</TotalTime>
  <Words>2392</Words>
  <Application>Microsoft Office PowerPoint</Application>
  <PresentationFormat>Widescreen</PresentationFormat>
  <Paragraphs>302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Bookman Old Style</vt:lpstr>
      <vt:lpstr>Century Gothic (Body)</vt:lpstr>
      <vt:lpstr>Courier New</vt:lpstr>
      <vt:lpstr>Rockwell</vt:lpstr>
      <vt:lpstr>Wingdings</vt:lpstr>
      <vt:lpstr>Damask</vt:lpstr>
      <vt:lpstr>A HYBRID DEMAND FORECASTING MODEL FOR AN EXPORT-DRIVEN NATURAL FIBRE INDUSTRY</vt:lpstr>
      <vt:lpstr>INTRODUCTION</vt:lpstr>
      <vt:lpstr>    OBJECTIVE      </vt:lpstr>
      <vt:lpstr>LITERATURE REVIEW</vt:lpstr>
      <vt:lpstr>PROBLEM IDENTIFIED</vt:lpstr>
      <vt:lpstr>PowerPoint Presentation</vt:lpstr>
      <vt:lpstr>METHODOLOGY</vt:lpstr>
      <vt:lpstr>DATASET</vt:lpstr>
      <vt:lpstr>TOOLS</vt:lpstr>
      <vt:lpstr>TOOLS</vt:lpstr>
      <vt:lpstr>TOOLS</vt:lpstr>
      <vt:lpstr>EVALUATION METRICS</vt:lpstr>
      <vt:lpstr>EVALUATION METRICS</vt:lpstr>
      <vt:lpstr>EVALUATION METRICS</vt:lpstr>
      <vt:lpstr>LIBRARIES</vt:lpstr>
      <vt:lpstr>PREPROCESSING</vt:lpstr>
      <vt:lpstr>PREPROCESSING AND DATA CLEANING</vt:lpstr>
      <vt:lpstr>TRAIN TEST SPLIT</vt:lpstr>
      <vt:lpstr>PowerPoint Presentation</vt:lpstr>
      <vt:lpstr> STATIONARITY TEST</vt:lpstr>
      <vt:lpstr>ADF STATIONARITY TEST</vt:lpstr>
      <vt:lpstr>ADF TEST INTERPRETATION</vt:lpstr>
      <vt:lpstr>Feature Scaling</vt:lpstr>
      <vt:lpstr>PowerPoint Presentation</vt:lpstr>
      <vt:lpstr>Hybrid ARIMA-XGB</vt:lpstr>
      <vt:lpstr>Hybrid SARIMA-XGB</vt:lpstr>
      <vt:lpstr>DOOR MAT RESULTS</vt:lpstr>
      <vt:lpstr>PowerPoint Presentation</vt:lpstr>
      <vt:lpstr>ROLL MAT RESULTS</vt:lpstr>
      <vt:lpstr>PowerPoint Presentation</vt:lpstr>
      <vt:lpstr>GEO TEXTILE MAT RESULTS</vt:lpstr>
      <vt:lpstr>PowerPoint Presentation</vt:lpstr>
      <vt:lpstr>OVERALL PERFORMANCE ANALYSIS</vt:lpstr>
      <vt:lpstr>PowerPoint Presentation</vt:lpstr>
      <vt:lpstr>PowerPoint Presentation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Antony John Berchmans</dc:creator>
  <cp:lastModifiedBy>Antony John Berchmans</cp:lastModifiedBy>
  <cp:revision>85</cp:revision>
  <dcterms:created xsi:type="dcterms:W3CDTF">2025-10-21T04:45:32Z</dcterms:created>
  <dcterms:modified xsi:type="dcterms:W3CDTF">2026-06-01T08:41:11Z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